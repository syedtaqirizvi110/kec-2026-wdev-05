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5F728-0793-4C5F-A36D-452A03BEB6A9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91673-6D38-42A2-97AA-CB755E9C184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36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91673-6D38-42A2-97AA-CB755E9C184A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66869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91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645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379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284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379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099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315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36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004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0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92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5EC32-325C-40E3-AEA9-7B0C26817EDE}" type="datetimeFigureOut">
              <a:rPr lang="en-PK" smtClean="0"/>
              <a:t>10/05/2026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4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71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A671E-25C2-ABD4-387A-71EF2DC0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Web Development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711EF-07DD-C772-8DAB-5447006BA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Week 1</a:t>
            </a:r>
            <a:br>
              <a:rPr lang="en-US" dirty="0">
                <a:solidFill>
                  <a:schemeClr val="tx1"/>
                </a:solidFill>
              </a:rPr>
            </a:b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5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E0CB8-9FF3-E2A1-8270-075F9B20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F47F24-A228-9B3A-2978-C74C5F6A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Development Fundamentals</a:t>
            </a:r>
          </a:p>
          <a:p>
            <a:r>
              <a:rPr lang="en-US" dirty="0"/>
              <a:t>Frontend Designing Basics</a:t>
            </a:r>
          </a:p>
          <a:p>
            <a:r>
              <a:rPr lang="en-US" dirty="0"/>
              <a:t>MySQL Database Management</a:t>
            </a:r>
          </a:p>
          <a:p>
            <a:r>
              <a:rPr lang="en-US" dirty="0"/>
              <a:t>PHP Programming</a:t>
            </a:r>
          </a:p>
          <a:p>
            <a:r>
              <a:rPr lang="en-US" dirty="0"/>
              <a:t>Dynamic Website Development</a:t>
            </a:r>
          </a:p>
          <a:p>
            <a:r>
              <a:rPr lang="en-US" dirty="0"/>
              <a:t>Authentication Systems</a:t>
            </a:r>
          </a:p>
          <a:p>
            <a:r>
              <a:rPr lang="en-US" dirty="0"/>
              <a:t>CRUD Applications</a:t>
            </a:r>
          </a:p>
          <a:p>
            <a:r>
              <a:rPr lang="en-US" dirty="0"/>
              <a:t>Final Web Project Development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7577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ECEE-B668-B674-F067-275F6F29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Roadmap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84D5-4E5D-BF81-7683-9C4F45A7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Month 1</a:t>
            </a:r>
          </a:p>
          <a:p>
            <a:pPr lvl="1"/>
            <a:r>
              <a:rPr lang="en-US" dirty="0"/>
              <a:t>Web Fundamentals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CSS</a:t>
            </a:r>
          </a:p>
          <a:p>
            <a:pPr lvl="1"/>
            <a:r>
              <a:rPr lang="en-US" dirty="0"/>
              <a:t>JavaScript Basics</a:t>
            </a:r>
          </a:p>
          <a:p>
            <a:r>
              <a:rPr lang="en-US" b="1" dirty="0"/>
              <a:t>Month 2</a:t>
            </a:r>
          </a:p>
          <a:p>
            <a:pPr lvl="1"/>
            <a:r>
              <a:rPr lang="en-US" dirty="0"/>
              <a:t>MySQL Database</a:t>
            </a:r>
          </a:p>
          <a:p>
            <a:pPr lvl="1"/>
            <a:r>
              <a:rPr lang="en-US" dirty="0"/>
              <a:t>SQL Queries</a:t>
            </a:r>
          </a:p>
          <a:p>
            <a:pPr lvl="1"/>
            <a:r>
              <a:rPr lang="en-US" dirty="0"/>
              <a:t>PHP Fundamentals</a:t>
            </a:r>
          </a:p>
          <a:p>
            <a:r>
              <a:rPr lang="en-US" b="1" dirty="0"/>
              <a:t>Month 3</a:t>
            </a:r>
          </a:p>
          <a:p>
            <a:pPr lvl="1"/>
            <a:r>
              <a:rPr lang="en-US" dirty="0"/>
              <a:t>PHP + MySQL Integration</a:t>
            </a:r>
          </a:p>
          <a:p>
            <a:pPr lvl="1"/>
            <a:r>
              <a:rPr lang="en-US" dirty="0"/>
              <a:t>Login Systems</a:t>
            </a:r>
          </a:p>
          <a:p>
            <a:pPr lvl="1"/>
            <a:r>
              <a:rPr lang="en-US" dirty="0"/>
              <a:t>CRUD Applications</a:t>
            </a:r>
          </a:p>
          <a:p>
            <a:pPr lvl="1"/>
            <a:r>
              <a:rPr lang="en-US" dirty="0"/>
              <a:t>Final Project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4665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0413-32C3-E4D5-77DD-7931C176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Website?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EA1E-03AC-6A67-6458-46838EF70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 website is a collection of web pages accessible through the internet.</a:t>
            </a:r>
          </a:p>
          <a:p>
            <a:pPr marL="0" indent="0">
              <a:buNone/>
            </a:pPr>
            <a:r>
              <a:rPr lang="en-US" b="1" dirty="0"/>
              <a:t>Examples of Websites</a:t>
            </a:r>
          </a:p>
          <a:p>
            <a:r>
              <a:rPr lang="en-US" dirty="0"/>
              <a:t>Educational Websites</a:t>
            </a:r>
          </a:p>
          <a:p>
            <a:r>
              <a:rPr lang="en-US" dirty="0"/>
              <a:t>E-Commerce Websites</a:t>
            </a:r>
          </a:p>
          <a:p>
            <a:r>
              <a:rPr lang="en-US" dirty="0" err="1"/>
              <a:t>Bnking</a:t>
            </a:r>
            <a:r>
              <a:rPr lang="en-US" dirty="0"/>
              <a:t> Systems</a:t>
            </a:r>
          </a:p>
          <a:p>
            <a:r>
              <a:rPr lang="en-US" dirty="0"/>
              <a:t>Social Media Platforms</a:t>
            </a:r>
          </a:p>
          <a:p>
            <a:r>
              <a:rPr lang="en-US" dirty="0"/>
              <a:t>News Portals</a:t>
            </a:r>
          </a:p>
          <a:p>
            <a:pPr marL="0" indent="0">
              <a:buNone/>
            </a:pPr>
            <a:r>
              <a:rPr lang="en-US" b="1" dirty="0"/>
              <a:t>Common Website Features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Videos</a:t>
            </a:r>
          </a:p>
          <a:p>
            <a:r>
              <a:rPr lang="en-US" dirty="0"/>
              <a:t>Forms</a:t>
            </a:r>
          </a:p>
          <a:p>
            <a:r>
              <a:rPr lang="en-US" dirty="0"/>
              <a:t>Interactive Content</a:t>
            </a:r>
          </a:p>
        </p:txBody>
      </p:sp>
    </p:spTree>
    <p:extLst>
      <p:ext uri="{BB962C8B-B14F-4D97-AF65-F5344CB8AC3E}">
        <p14:creationId xmlns:p14="http://schemas.microsoft.com/office/powerpoint/2010/main" val="295752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3E1B-FD85-0E21-EA71-A5E750A2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8B1C3-74E8-A6B5-9ABF-B827F7C7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Static Website</a:t>
            </a:r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pPr>
              <a:lnSpc>
                <a:spcPct val="100000"/>
              </a:lnSpc>
            </a:pPr>
            <a:r>
              <a:rPr lang="en-US" dirty="0"/>
              <a:t>Fixed Content</a:t>
            </a:r>
          </a:p>
          <a:p>
            <a:pPr>
              <a:lnSpc>
                <a:spcPct val="100000"/>
              </a:lnSpc>
            </a:pPr>
            <a:r>
              <a:rPr lang="en-US" dirty="0"/>
              <a:t>Simple Design</a:t>
            </a:r>
          </a:p>
          <a:p>
            <a:pPr>
              <a:lnSpc>
                <a:spcPct val="100000"/>
              </a:lnSpc>
            </a:pPr>
            <a:r>
              <a:rPr lang="en-US" dirty="0"/>
              <a:t>No Database</a:t>
            </a:r>
          </a:p>
          <a:p>
            <a:pPr>
              <a:lnSpc>
                <a:spcPct val="100000"/>
              </a:lnSpc>
            </a:pPr>
            <a:r>
              <a:rPr lang="en-US" dirty="0"/>
              <a:t>Faster to Develop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Portfolio Website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4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A5A6-65AA-E8B0-0EE7-1EE8BE17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Website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2331-9E18-5A86-E80D-A76FC005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Features of Dynamic Websites</a:t>
            </a:r>
          </a:p>
          <a:p>
            <a:r>
              <a:rPr lang="en-US" dirty="0"/>
              <a:t>Content Changes Dynamically</a:t>
            </a:r>
          </a:p>
          <a:p>
            <a:r>
              <a:rPr lang="en-US" dirty="0"/>
              <a:t>Database Connected</a:t>
            </a:r>
          </a:p>
          <a:p>
            <a:r>
              <a:rPr lang="en-US" dirty="0"/>
              <a:t>User Interaction</a:t>
            </a:r>
          </a:p>
          <a:p>
            <a:r>
              <a:rPr lang="en-US" dirty="0"/>
              <a:t>Login Systems</a:t>
            </a:r>
          </a:p>
          <a:p>
            <a:r>
              <a:rPr lang="en-US" dirty="0"/>
              <a:t>Admin Panels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Facebook</a:t>
            </a:r>
          </a:p>
          <a:p>
            <a:r>
              <a:rPr lang="en-US" dirty="0" err="1"/>
              <a:t>Daraz</a:t>
            </a:r>
            <a:endParaRPr lang="en-US" dirty="0"/>
          </a:p>
          <a:p>
            <a:r>
              <a:rPr lang="en-US" dirty="0"/>
              <a:t>YouTube</a:t>
            </a:r>
          </a:p>
          <a:p>
            <a:r>
              <a:rPr lang="en-US" dirty="0"/>
              <a:t>Online Banking Systems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8892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2F87-A3CD-554B-2FBB-7653EDA2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 Dynamic Website</a:t>
            </a:r>
            <a:endParaRPr lang="en-PK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E7A392-CC7D-9120-F943-F8D3217DD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2800" dirty="0"/>
              <a:t>Static Website</a:t>
            </a:r>
            <a:endParaRPr lang="en-PK" sz="280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A7B9950-25D7-5881-89DE-A3ED8A6E91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Fixed Content</a:t>
            </a:r>
          </a:p>
          <a:p>
            <a:r>
              <a:rPr lang="en-US" dirty="0"/>
              <a:t>No Database</a:t>
            </a:r>
          </a:p>
          <a:p>
            <a:r>
              <a:rPr lang="en-US" dirty="0"/>
              <a:t>Simple</a:t>
            </a:r>
          </a:p>
          <a:p>
            <a:r>
              <a:rPr lang="en-US" dirty="0"/>
              <a:t>Easy to Develop</a:t>
            </a:r>
          </a:p>
          <a:p>
            <a:r>
              <a:rPr lang="en-US" dirty="0"/>
              <a:t>Limited Functionality</a:t>
            </a:r>
            <a:endParaRPr lang="en-PK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DF2A64E-BFAF-3294-0B04-5282F434D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2800" dirty="0"/>
              <a:t>Dynamic Website</a:t>
            </a:r>
            <a:endParaRPr lang="en-PK" sz="28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96EDB47-F9E6-25F9-6825-04B7ABF3062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Dynamic Content</a:t>
            </a:r>
          </a:p>
          <a:p>
            <a:r>
              <a:rPr lang="en-US" dirty="0"/>
              <a:t>Uses Database</a:t>
            </a:r>
          </a:p>
          <a:p>
            <a:r>
              <a:rPr lang="en-US" dirty="0"/>
              <a:t>Interactive</a:t>
            </a:r>
          </a:p>
          <a:p>
            <a:r>
              <a:rPr lang="en-US" dirty="0"/>
              <a:t>More Powerful</a:t>
            </a:r>
          </a:p>
          <a:p>
            <a:r>
              <a:rPr lang="en-US" dirty="0"/>
              <a:t>Advanced Features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1466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BFED4F-991A-C50C-92D5-9B0655E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Internet Works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4C884E-8FA9-B59C-2505-12B2A19BD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Basic Flow</a:t>
            </a:r>
          </a:p>
          <a:p>
            <a:r>
              <a:rPr lang="en-US" dirty="0"/>
              <a:t>User Opens Browser</a:t>
            </a:r>
          </a:p>
          <a:p>
            <a:r>
              <a:rPr lang="en-US" dirty="0"/>
              <a:t>User Types Website Address</a:t>
            </a:r>
          </a:p>
          <a:p>
            <a:r>
              <a:rPr lang="en-US" dirty="0"/>
              <a:t>Request Sent to Server</a:t>
            </a:r>
          </a:p>
          <a:p>
            <a:r>
              <a:rPr lang="en-US" dirty="0"/>
              <a:t>Server Processes Request</a:t>
            </a:r>
          </a:p>
          <a:p>
            <a:r>
              <a:rPr lang="en-US" dirty="0"/>
              <a:t>Response Returned to Browser</a:t>
            </a:r>
          </a:p>
          <a:p>
            <a:r>
              <a:rPr lang="en-US" dirty="0"/>
              <a:t>Website Displayed to User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6510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9FB2-D7E5-BA96-B59D-CEDCC60E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vs Server Side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49AB7-CB58-BB6A-E4E8-BD517414A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Client Side</a:t>
            </a:r>
          </a:p>
          <a:p>
            <a:r>
              <a:rPr lang="en-US" b="1" dirty="0"/>
              <a:t>Runs in Browser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CSS</a:t>
            </a:r>
          </a:p>
          <a:p>
            <a:pPr lvl="1"/>
            <a:r>
              <a:rPr lang="en-US" dirty="0"/>
              <a:t>JavaScript</a:t>
            </a:r>
          </a:p>
          <a:p>
            <a:pPr marL="0" indent="0">
              <a:buNone/>
            </a:pPr>
            <a:r>
              <a:rPr lang="en-US" b="1" dirty="0"/>
              <a:t>Server Side</a:t>
            </a:r>
          </a:p>
          <a:p>
            <a:r>
              <a:rPr lang="en-US" b="1" dirty="0"/>
              <a:t>Runs on Server</a:t>
            </a:r>
          </a:p>
          <a:p>
            <a:pPr lvl="1"/>
            <a:r>
              <a:rPr lang="en-US" dirty="0"/>
              <a:t>PHP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Node.js</a:t>
            </a:r>
          </a:p>
          <a:p>
            <a:pPr lvl="1"/>
            <a:r>
              <a:rPr lang="en-US" dirty="0"/>
              <a:t>ASP.NET</a:t>
            </a:r>
          </a:p>
        </p:txBody>
      </p:sp>
    </p:spTree>
    <p:extLst>
      <p:ext uri="{BB962C8B-B14F-4D97-AF65-F5344CB8AC3E}">
        <p14:creationId xmlns:p14="http://schemas.microsoft.com/office/powerpoint/2010/main" val="168267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8547-AA6F-0BDC-86BD-E72CC5BB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vs Backend Development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69A6-51B4-F5EF-3990-EC358949F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Frontend Development</a:t>
            </a:r>
          </a:p>
          <a:p>
            <a:r>
              <a:rPr lang="en-US" dirty="0"/>
              <a:t>User Interface</a:t>
            </a:r>
          </a:p>
          <a:p>
            <a:r>
              <a:rPr lang="en-US" dirty="0"/>
              <a:t>Website Design</a:t>
            </a:r>
          </a:p>
          <a:p>
            <a:r>
              <a:rPr lang="en-US" dirty="0"/>
              <a:t>User Experience</a:t>
            </a:r>
          </a:p>
          <a:p>
            <a:pPr marL="0" indent="0">
              <a:buNone/>
            </a:pPr>
            <a:r>
              <a:rPr lang="en-US" b="1" dirty="0"/>
              <a:t>Technologies</a:t>
            </a:r>
          </a:p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304944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6F6D-A0F2-9F14-53C5-63BAAD39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vs Backend Development Contd...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13C2-897D-9B73-99E7-BABFB3F77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761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Backend Development</a:t>
            </a:r>
          </a:p>
          <a:p>
            <a:r>
              <a:rPr lang="en-US" dirty="0"/>
              <a:t>Database Handling</a:t>
            </a:r>
          </a:p>
          <a:p>
            <a:r>
              <a:rPr lang="en-US" dirty="0"/>
              <a:t>Business Logic</a:t>
            </a:r>
          </a:p>
          <a:p>
            <a:r>
              <a:rPr lang="en-US" dirty="0"/>
              <a:t>Authentication</a:t>
            </a:r>
          </a:p>
          <a:p>
            <a:pPr marL="0" indent="0">
              <a:buNone/>
            </a:pPr>
            <a:r>
              <a:rPr lang="en-US" b="1" dirty="0"/>
              <a:t>Technologies</a:t>
            </a:r>
          </a:p>
          <a:p>
            <a:r>
              <a:rPr lang="en-US" dirty="0"/>
              <a:t>PHP</a:t>
            </a:r>
          </a:p>
          <a:p>
            <a:r>
              <a:rPr lang="en-US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02366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0CC3-5BB7-79F1-C7BA-5A8F29A8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PHP?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DA0E-EA09-5896-4F52-E1DAD7C3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PHP</a:t>
            </a:r>
          </a:p>
          <a:p>
            <a:pPr marL="0" indent="0">
              <a:buNone/>
            </a:pPr>
            <a:r>
              <a:rPr lang="en-US" b="1" dirty="0"/>
              <a:t>	Hypertext Preprocessor</a:t>
            </a:r>
          </a:p>
          <a:p>
            <a:pPr marL="0" indent="0">
              <a:buNone/>
            </a:pPr>
            <a:r>
              <a:rPr lang="en-US" dirty="0"/>
              <a:t>	PHP is a server-side scripting language used to create dynamic websites.</a:t>
            </a:r>
          </a:p>
          <a:p>
            <a:pPr marL="0" indent="0">
              <a:buNone/>
            </a:pPr>
            <a:r>
              <a:rPr lang="en-US" b="1" dirty="0"/>
              <a:t>Features of PHP</a:t>
            </a:r>
          </a:p>
          <a:p>
            <a:r>
              <a:rPr lang="en-US" dirty="0"/>
              <a:t>Open Source</a:t>
            </a:r>
          </a:p>
          <a:p>
            <a:r>
              <a:rPr lang="en-US" dirty="0"/>
              <a:t>Easy to Learn</a:t>
            </a:r>
          </a:p>
          <a:p>
            <a:r>
              <a:rPr lang="en-US" dirty="0"/>
              <a:t>Database Connectivity</a:t>
            </a:r>
          </a:p>
          <a:p>
            <a:r>
              <a:rPr lang="en-US" dirty="0"/>
              <a:t>Fast Development</a:t>
            </a:r>
          </a:p>
          <a:p>
            <a:r>
              <a:rPr lang="en-US" dirty="0"/>
              <a:t>Widely Used</a:t>
            </a:r>
          </a:p>
        </p:txBody>
      </p:sp>
    </p:spTree>
    <p:extLst>
      <p:ext uri="{BB962C8B-B14F-4D97-AF65-F5344CB8AC3E}">
        <p14:creationId xmlns:p14="http://schemas.microsoft.com/office/powerpoint/2010/main" val="96441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52A8-4E35-C8DA-C3C7-097BF70F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Websites Using PHP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CF33-E644-D327-A61E-C68DF738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4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Facebook (Initially)</a:t>
            </a:r>
          </a:p>
          <a:p>
            <a:r>
              <a:rPr lang="en-US" dirty="0"/>
              <a:t>WordPress</a:t>
            </a:r>
          </a:p>
          <a:p>
            <a:r>
              <a:rPr lang="en-US" dirty="0"/>
              <a:t>Wikipedia</a:t>
            </a:r>
          </a:p>
          <a:p>
            <a:r>
              <a:rPr lang="en-US" dirty="0"/>
              <a:t>Mailchimp</a:t>
            </a:r>
          </a:p>
          <a:p>
            <a:pPr marL="0" indent="0">
              <a:buNone/>
            </a:pPr>
            <a:r>
              <a:rPr lang="en-US" b="1" dirty="0"/>
              <a:t>Why Companies Use PHP?</a:t>
            </a:r>
          </a:p>
          <a:p>
            <a:r>
              <a:rPr lang="en-US" dirty="0"/>
              <a:t>Cost Effective</a:t>
            </a:r>
          </a:p>
          <a:p>
            <a:r>
              <a:rPr lang="en-US" dirty="0"/>
              <a:t>Flexible</a:t>
            </a:r>
          </a:p>
          <a:p>
            <a:r>
              <a:rPr lang="en-US" dirty="0"/>
              <a:t>Large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100466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3949A-0BCC-09BE-0244-0FCAA728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Web Server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7056-10E3-31ED-1305-E9E964C13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is a Web Server?</a:t>
            </a:r>
          </a:p>
          <a:p>
            <a:pPr marL="0" indent="0">
              <a:buNone/>
            </a:pPr>
            <a:r>
              <a:rPr lang="en-US" dirty="0"/>
              <a:t>	A web server stores and delivers websites to users.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Apache Server</a:t>
            </a:r>
          </a:p>
          <a:p>
            <a:r>
              <a:rPr lang="en-US" dirty="0"/>
              <a:t>Nginx</a:t>
            </a:r>
          </a:p>
          <a:p>
            <a:r>
              <a:rPr lang="en-US" dirty="0"/>
              <a:t>IIS</a:t>
            </a:r>
          </a:p>
          <a:p>
            <a:pPr marL="0" indent="0">
              <a:buNone/>
            </a:pPr>
            <a:r>
              <a:rPr lang="en-US" b="1" dirty="0"/>
              <a:t>For This Course</a:t>
            </a:r>
          </a:p>
          <a:p>
            <a:pPr marL="0" indent="0">
              <a:buNone/>
            </a:pPr>
            <a:r>
              <a:rPr lang="en-US" dirty="0"/>
              <a:t>We will use:</a:t>
            </a:r>
          </a:p>
          <a:p>
            <a:r>
              <a:rPr lang="en-US" dirty="0"/>
              <a:t>XAMPP</a:t>
            </a:r>
          </a:p>
          <a:p>
            <a:r>
              <a:rPr lang="en-US" dirty="0"/>
              <a:t>Apache Server</a:t>
            </a:r>
          </a:p>
          <a:p>
            <a:r>
              <a:rPr lang="en-US" dirty="0"/>
              <a:t>MySQL</a:t>
            </a:r>
          </a:p>
          <a:p>
            <a:r>
              <a:rPr lang="en-US" dirty="0"/>
              <a:t>PHP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293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7C2C-2FD6-9EA8-1A9B-F296FEF9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XAMPP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951F3-7C25-8645-23CE-D536AE703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XAMPP?</a:t>
            </a:r>
          </a:p>
          <a:p>
            <a:pPr marL="0" indent="0">
              <a:buNone/>
            </a:pPr>
            <a:r>
              <a:rPr lang="en-US" dirty="0"/>
              <a:t>XAMPP is a local server package used for PHP development.</a:t>
            </a:r>
          </a:p>
          <a:p>
            <a:pPr marL="0" indent="0">
              <a:buNone/>
            </a:pPr>
            <a:r>
              <a:rPr lang="en-US" b="1" dirty="0"/>
              <a:t>Components</a:t>
            </a:r>
          </a:p>
          <a:p>
            <a:r>
              <a:rPr lang="en-US" dirty="0"/>
              <a:t>X = Cross Platform</a:t>
            </a:r>
          </a:p>
          <a:p>
            <a:r>
              <a:rPr lang="en-US" dirty="0"/>
              <a:t>A = Apache</a:t>
            </a:r>
          </a:p>
          <a:p>
            <a:r>
              <a:rPr lang="en-US" dirty="0"/>
              <a:t>M = MySQL</a:t>
            </a:r>
          </a:p>
          <a:p>
            <a:r>
              <a:rPr lang="en-US" dirty="0"/>
              <a:t>P = PHP</a:t>
            </a:r>
          </a:p>
          <a:p>
            <a:r>
              <a:rPr lang="en-US" dirty="0"/>
              <a:t>P = Perl</a:t>
            </a:r>
          </a:p>
        </p:txBody>
      </p:sp>
    </p:spTree>
    <p:extLst>
      <p:ext uri="{BB962C8B-B14F-4D97-AF65-F5344CB8AC3E}">
        <p14:creationId xmlns:p14="http://schemas.microsoft.com/office/powerpoint/2010/main" val="1727827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7C4D-32B1-5A52-A9F8-2401E085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Visual Studio Code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CE92-0151-8D2B-098F-36ED8222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9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VS Code</a:t>
            </a:r>
          </a:p>
          <a:p>
            <a:pPr marL="0" indent="0">
              <a:buNone/>
            </a:pPr>
            <a:r>
              <a:rPr lang="en-US" dirty="0"/>
              <a:t>A lightweight and powerful code editor.</a:t>
            </a:r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Syntax Highlighting</a:t>
            </a:r>
          </a:p>
          <a:p>
            <a:r>
              <a:rPr lang="en-US" dirty="0"/>
              <a:t>Extensions Support</a:t>
            </a:r>
          </a:p>
          <a:p>
            <a:r>
              <a:rPr lang="en-US" dirty="0"/>
              <a:t>Auto Completion</a:t>
            </a:r>
          </a:p>
          <a:p>
            <a:r>
              <a:rPr lang="en-US" dirty="0"/>
              <a:t>Integrated Terminal</a:t>
            </a:r>
          </a:p>
          <a:p>
            <a:pPr marL="0" indent="0">
              <a:buNone/>
            </a:pPr>
            <a:r>
              <a:rPr lang="en-US" b="1" dirty="0"/>
              <a:t>Extensions Recommended</a:t>
            </a:r>
          </a:p>
          <a:p>
            <a:r>
              <a:rPr lang="en-US" dirty="0"/>
              <a:t>PHP </a:t>
            </a:r>
            <a:r>
              <a:rPr lang="en-US" dirty="0" err="1"/>
              <a:t>Intelephense</a:t>
            </a:r>
            <a:endParaRPr lang="en-US" dirty="0"/>
          </a:p>
          <a:p>
            <a:r>
              <a:rPr lang="en-US" dirty="0"/>
              <a:t>Live Server</a:t>
            </a:r>
          </a:p>
          <a:p>
            <a:r>
              <a:rPr lang="en-US" dirty="0"/>
              <a:t>Prettier</a:t>
            </a:r>
          </a:p>
        </p:txBody>
      </p:sp>
    </p:spTree>
    <p:extLst>
      <p:ext uri="{BB962C8B-B14F-4D97-AF65-F5344CB8AC3E}">
        <p14:creationId xmlns:p14="http://schemas.microsoft.com/office/powerpoint/2010/main" val="1967700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60B8-5F2A-9E70-0D2D-C34F64ED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 Setup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8915-B52D-BB16-4FE9-1AB34B7A1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Software Installation</a:t>
            </a:r>
          </a:p>
          <a:p>
            <a:pPr marL="0" indent="0">
              <a:buNone/>
            </a:pPr>
            <a:r>
              <a:rPr lang="en-US" b="1" dirty="0"/>
              <a:t>Install:</a:t>
            </a:r>
          </a:p>
          <a:p>
            <a:r>
              <a:rPr lang="en-US" dirty="0"/>
              <a:t>XAMPP</a:t>
            </a:r>
          </a:p>
          <a:p>
            <a:r>
              <a:rPr lang="en-US" dirty="0"/>
              <a:t>VS Code</a:t>
            </a:r>
          </a:p>
          <a:p>
            <a:r>
              <a:rPr lang="en-US" dirty="0"/>
              <a:t>Google Chrome</a:t>
            </a:r>
          </a:p>
          <a:p>
            <a:pPr marL="0" indent="0">
              <a:buNone/>
            </a:pPr>
            <a:r>
              <a:rPr lang="en-US" b="1" dirty="0"/>
              <a:t>Verify:</a:t>
            </a:r>
          </a:p>
          <a:p>
            <a:r>
              <a:rPr lang="en-US" dirty="0"/>
              <a:t>Apache Running</a:t>
            </a:r>
          </a:p>
          <a:p>
            <a:r>
              <a:rPr lang="en-US" dirty="0"/>
              <a:t>MySQL Running</a:t>
            </a:r>
          </a:p>
          <a:p>
            <a:r>
              <a:rPr lang="en-US" dirty="0"/>
              <a:t>Localhost Working</a:t>
            </a:r>
          </a:p>
        </p:txBody>
      </p:sp>
    </p:spTree>
    <p:extLst>
      <p:ext uri="{BB962C8B-B14F-4D97-AF65-F5344CB8AC3E}">
        <p14:creationId xmlns:p14="http://schemas.microsoft.com/office/powerpoint/2010/main" val="367667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D3A0-8BB1-3ED4-01FD-FD701FB7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Web Page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671C-C4D2-4AA3-3BDF-65D70EA6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HTML Example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6339A-5A61-26BB-26DC-2C5E0AFC5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6131"/>
            <a:ext cx="7757160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51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875F-DAE0-B3D0-024E-E0955329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PHP Program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8F428-5D94-60D0-0E33-0F45EC4DD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PHP Example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C7C7D-63E7-9230-5B52-1BD4E3AE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79548"/>
            <a:ext cx="7960233" cy="187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1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FBDA8-788D-FA06-8DFB-31E3C0B1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B7AB-BF03-233E-BA9D-46E1FE344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Hands-On Lab</a:t>
            </a:r>
          </a:p>
          <a:p>
            <a:pPr marL="0" indent="0">
              <a:buNone/>
            </a:pPr>
            <a:r>
              <a:rPr lang="en-US" b="1" dirty="0"/>
              <a:t>Task 1</a:t>
            </a:r>
          </a:p>
          <a:p>
            <a:r>
              <a:rPr lang="en-US" dirty="0"/>
              <a:t>Create a simple HTML page containing:</a:t>
            </a:r>
          </a:p>
          <a:p>
            <a:r>
              <a:rPr lang="en-US" dirty="0"/>
              <a:t>Heading</a:t>
            </a:r>
          </a:p>
          <a:p>
            <a:r>
              <a:rPr lang="en-US" dirty="0"/>
              <a:t>Paragraph</a:t>
            </a:r>
          </a:p>
          <a:p>
            <a:r>
              <a:rPr lang="en-US" dirty="0"/>
              <a:t>Image</a:t>
            </a:r>
          </a:p>
          <a:p>
            <a:r>
              <a:rPr lang="en-US" dirty="0"/>
              <a:t>Hyperlink</a:t>
            </a:r>
          </a:p>
          <a:p>
            <a:pPr marL="0" indent="0">
              <a:buNone/>
            </a:pPr>
            <a:r>
              <a:rPr lang="en-US" b="1" dirty="0"/>
              <a:t>Task 2</a:t>
            </a:r>
          </a:p>
          <a:p>
            <a:r>
              <a:rPr lang="en-US" dirty="0"/>
              <a:t>Run first PHP file using XAMPP.</a:t>
            </a:r>
          </a:p>
        </p:txBody>
      </p:sp>
    </p:spTree>
    <p:extLst>
      <p:ext uri="{BB962C8B-B14F-4D97-AF65-F5344CB8AC3E}">
        <p14:creationId xmlns:p14="http://schemas.microsoft.com/office/powerpoint/2010/main" val="296039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FE06-ACDC-3EB7-A30F-46BD76C2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Discussion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73632-D5E9-5E95-43F6-C29ADC054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Questions for Students</a:t>
            </a:r>
          </a:p>
          <a:p>
            <a:r>
              <a:rPr lang="en-US" dirty="0"/>
              <a:t>What is the difference between static and dynamic websites?</a:t>
            </a:r>
          </a:p>
          <a:p>
            <a:r>
              <a:rPr lang="en-US" dirty="0"/>
              <a:t>What is the role of PHP?</a:t>
            </a:r>
          </a:p>
          <a:p>
            <a:r>
              <a:rPr lang="en-US" dirty="0"/>
              <a:t>What is a server?</a:t>
            </a:r>
          </a:p>
          <a:p>
            <a:r>
              <a:rPr lang="en-US" dirty="0"/>
              <a:t>Why do we use databases?</a:t>
            </a:r>
          </a:p>
        </p:txBody>
      </p:sp>
    </p:spTree>
    <p:extLst>
      <p:ext uri="{BB962C8B-B14F-4D97-AF65-F5344CB8AC3E}">
        <p14:creationId xmlns:p14="http://schemas.microsoft.com/office/powerpoint/2010/main" val="3982382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B26E-15B1-68C2-65C0-FB91110A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C40E-7F2B-0ACA-500A-0ABDDF51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Homework Task</a:t>
            </a:r>
          </a:p>
          <a:p>
            <a:pPr marL="0" indent="0">
              <a:buNone/>
            </a:pPr>
            <a:r>
              <a:rPr lang="en-US" dirty="0"/>
              <a:t>Create A simple webpage containing:</a:t>
            </a:r>
          </a:p>
          <a:p>
            <a:r>
              <a:rPr lang="en-US" dirty="0"/>
              <a:t>Your Name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Your Picture</a:t>
            </a:r>
          </a:p>
          <a:p>
            <a:r>
              <a:rPr lang="en-US" dirty="0"/>
              <a:t>Your Hobbies</a:t>
            </a:r>
          </a:p>
          <a:p>
            <a:r>
              <a:rPr lang="en-US" dirty="0"/>
              <a:t>One External Website Link</a:t>
            </a:r>
          </a:p>
          <a:p>
            <a:pPr marL="0" indent="0">
              <a:buNone/>
            </a:pPr>
            <a:r>
              <a:rPr lang="en-US" b="1" dirty="0"/>
              <a:t>&amp; Save File As:</a:t>
            </a:r>
          </a:p>
          <a:p>
            <a:pPr marL="0" indent="0">
              <a:buNone/>
            </a:pPr>
            <a:r>
              <a:rPr lang="en-US" dirty="0"/>
              <a:t>   aboutme.html</a:t>
            </a:r>
          </a:p>
        </p:txBody>
      </p:sp>
    </p:spTree>
    <p:extLst>
      <p:ext uri="{BB962C8B-B14F-4D97-AF65-F5344CB8AC3E}">
        <p14:creationId xmlns:p14="http://schemas.microsoft.com/office/powerpoint/2010/main" val="3374956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177D-A619-DD59-4930-43E020DA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A7712-044C-61AA-A532-1F7D484C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Today We Learned</a:t>
            </a:r>
          </a:p>
          <a:p>
            <a:r>
              <a:rPr lang="en-US" dirty="0"/>
              <a:t>Introduction to Web Development</a:t>
            </a:r>
          </a:p>
          <a:p>
            <a:r>
              <a:rPr lang="en-US" dirty="0"/>
              <a:t>Static vs Dynamic Websites</a:t>
            </a:r>
          </a:p>
          <a:p>
            <a:r>
              <a:rPr lang="en-US" dirty="0"/>
              <a:t>Client-side vs Server-side</a:t>
            </a:r>
          </a:p>
          <a:p>
            <a:r>
              <a:rPr lang="en-US" dirty="0"/>
              <a:t>Frontend vs Backend</a:t>
            </a:r>
          </a:p>
          <a:p>
            <a:r>
              <a:rPr lang="en-US" dirty="0"/>
              <a:t>Introduction to PHP</a:t>
            </a:r>
          </a:p>
          <a:p>
            <a:r>
              <a:rPr lang="en-US" dirty="0"/>
              <a:t>Introduction to XAMPP</a:t>
            </a:r>
          </a:p>
          <a:p>
            <a:r>
              <a:rPr lang="en-US" dirty="0"/>
              <a:t>VS Code Setup</a:t>
            </a:r>
          </a:p>
          <a:p>
            <a:r>
              <a:rPr lang="en-US" dirty="0"/>
              <a:t>First HTML &amp; PHP Program</a:t>
            </a:r>
          </a:p>
        </p:txBody>
      </p:sp>
    </p:spTree>
    <p:extLst>
      <p:ext uri="{BB962C8B-B14F-4D97-AF65-F5344CB8AC3E}">
        <p14:creationId xmlns:p14="http://schemas.microsoft.com/office/powerpoint/2010/main" val="2916989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317023-913B-6DEB-82C8-9546A711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Q &amp; A Time</a:t>
            </a:r>
            <a:endParaRPr lang="en-PK" sz="7200" dirty="0"/>
          </a:p>
        </p:txBody>
      </p:sp>
    </p:spTree>
    <p:extLst>
      <p:ext uri="{BB962C8B-B14F-4D97-AF65-F5344CB8AC3E}">
        <p14:creationId xmlns:p14="http://schemas.microsoft.com/office/powerpoint/2010/main" val="3557679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574</Words>
  <Application>Microsoft Office PowerPoint</Application>
  <PresentationFormat>Widescreen</PresentationFormat>
  <Paragraphs>218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Franklin Gothic Book</vt:lpstr>
      <vt:lpstr>Franklin Gothic Medium</vt:lpstr>
      <vt:lpstr>Office Theme</vt:lpstr>
      <vt:lpstr>PowerPoint Presentation</vt:lpstr>
      <vt:lpstr>Introduction to Web Development</vt:lpstr>
      <vt:lpstr>Course Introduction</vt:lpstr>
      <vt:lpstr>Course Roadmap</vt:lpstr>
      <vt:lpstr>What is a Website?</vt:lpstr>
      <vt:lpstr>Types of Websites</vt:lpstr>
      <vt:lpstr>Dynamic Website</vt:lpstr>
      <vt:lpstr>Static vs Dynamic Website</vt:lpstr>
      <vt:lpstr>How the Internet Works</vt:lpstr>
      <vt:lpstr>Client-Side vs Server Side</vt:lpstr>
      <vt:lpstr>Frontend vs Backend Development</vt:lpstr>
      <vt:lpstr>Frontend vs Backend Development Contd...</vt:lpstr>
      <vt:lpstr>What is PHP?</vt:lpstr>
      <vt:lpstr>Popular Websites Using PHP</vt:lpstr>
      <vt:lpstr>Introduction to Web Server</vt:lpstr>
      <vt:lpstr>Introduction to XAMPP</vt:lpstr>
      <vt:lpstr>Introduction to Visual Studio Code</vt:lpstr>
      <vt:lpstr>Development Environment Setup</vt:lpstr>
      <vt:lpstr>First Web Page</vt:lpstr>
      <vt:lpstr>First PHP Program</vt:lpstr>
      <vt:lpstr>Practical Activity</vt:lpstr>
      <vt:lpstr>Class Discussion</vt:lpstr>
      <vt:lpstr>Assignment</vt:lpstr>
      <vt:lpstr>Summary</vt:lpstr>
      <vt:lpstr>Q &amp; A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9122022</dc:creator>
  <cp:lastModifiedBy>9122022</cp:lastModifiedBy>
  <cp:revision>1</cp:revision>
  <dcterms:created xsi:type="dcterms:W3CDTF">2026-05-10T11:29:20Z</dcterms:created>
  <dcterms:modified xsi:type="dcterms:W3CDTF">2026-05-10T17:18:02Z</dcterms:modified>
</cp:coreProperties>
</file>